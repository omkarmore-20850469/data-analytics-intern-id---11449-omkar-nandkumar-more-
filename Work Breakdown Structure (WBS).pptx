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83" r:id="rId5"/>
    <p:sldId id="2685" r:id="rId6"/>
    <p:sldId id="26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>
        <p:scale>
          <a:sx n="72" d="100"/>
          <a:sy n="72" d="100"/>
        </p:scale>
        <p:origin x="99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4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50DFD3D-2972-599A-499E-FECBCA91A9A8}"/>
              </a:ext>
            </a:extLst>
          </p:cNvPr>
          <p:cNvGrpSpPr/>
          <p:nvPr/>
        </p:nvGrpSpPr>
        <p:grpSpPr>
          <a:xfrm>
            <a:off x="483994" y="394502"/>
            <a:ext cx="11224010" cy="6234059"/>
            <a:chOff x="-1" y="0"/>
            <a:chExt cx="9144001" cy="516352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879FE42-71DC-9682-6435-E4CF0EF237E4}"/>
                </a:ext>
              </a:extLst>
            </p:cNvPr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E121AF56-5677-DF5F-9213-2BFD697CF197}"/>
                </a:ext>
              </a:extLst>
            </p:cNvPr>
            <p:cNvSpPr/>
            <p:nvPr/>
          </p:nvSpPr>
          <p:spPr>
            <a:xfrm>
              <a:off x="-1" y="4134826"/>
              <a:ext cx="9144000" cy="10287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F92E927A-1704-B6BF-F243-D9F1A83FBA9E}"/>
                </a:ext>
              </a:extLst>
            </p:cNvPr>
            <p:cNvSpPr/>
            <p:nvPr/>
          </p:nvSpPr>
          <p:spPr>
            <a:xfrm>
              <a:off x="457200" y="925735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WORK BREAKDOWN STRUCTURE</a:t>
              </a:r>
              <a:endParaRPr lang="en-US" sz="32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917B0F5E-8086-24CC-27E1-BC865F6226D4}"/>
                </a:ext>
              </a:extLst>
            </p:cNvPr>
            <p:cNvSpPr/>
            <p:nvPr/>
          </p:nvSpPr>
          <p:spPr>
            <a:xfrm>
              <a:off x="457200" y="1605867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GPI Live Project – Data Analytics Domain</a:t>
              </a:r>
              <a:endParaRPr lang="en-US" sz="2000" dirty="0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A4250DBC-18EF-33D7-A046-670B3A812E00}"/>
                </a:ext>
              </a:extLst>
            </p:cNvPr>
            <p:cNvSpPr/>
            <p:nvPr/>
          </p:nvSpPr>
          <p:spPr>
            <a:xfrm>
              <a:off x="731520" y="2103120"/>
              <a:ext cx="768096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Absence of Insights for the Relationship Between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Student's Economic Background, Academic Performance,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Competence &amp; Expected Salary</a:t>
              </a:r>
              <a:endParaRPr lang="en-US" sz="160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9F5F701C-5AE5-BF8E-E572-87B3BFE373F5}"/>
                </a:ext>
              </a:extLst>
            </p:cNvPr>
            <p:cNvSpPr/>
            <p:nvPr/>
          </p:nvSpPr>
          <p:spPr>
            <a:xfrm>
              <a:off x="457199" y="3951946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Project Sponsor: Tushar Topale  |  Project Manager: Harshada Topale  |  Intern: Omkar Nandkumar More | </a:t>
              </a:r>
              <a:r>
                <a:rPr lang="en-US" sz="1400" dirty="0">
                  <a:latin typeface="Arial" pitchFamily="34" charset="0"/>
                  <a:cs typeface="Arial" pitchFamily="34" charset="-120"/>
                </a:rPr>
                <a:t>Intern ID : IP-11449</a:t>
              </a:r>
              <a:endParaRPr lang="en-US" sz="1400" dirty="0"/>
            </a:p>
            <a:p>
              <a:pPr marL="0" indent="0" algn="ctr">
                <a:buNone/>
              </a:pPr>
              <a:endPara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C3F1F0A-8872-5D78-46A8-03B2DFA9C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827" y="73563"/>
              <a:ext cx="1219306" cy="932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724400" y="167013"/>
            <a:ext cx="2743200" cy="397440"/>
          </a:xfrm>
          <a:prstGeom prst="rect">
            <a:avLst/>
          </a:prstGeom>
          <a:solidFill>
            <a:srgbClr val="2E5597"/>
          </a:solidFill>
          <a:ln w="12700">
            <a:solidFill>
              <a:srgbClr val="2E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4400" y="179309"/>
            <a:ext cx="2743200" cy="39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93636" y="566198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65118" y="853124"/>
            <a:ext cx="9923426" cy="1433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5118" y="867454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037" y="1142670"/>
            <a:ext cx="1371600" cy="482605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410" y="1069114"/>
            <a:ext cx="1362809" cy="580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07052" y="853125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9015" y="1116290"/>
            <a:ext cx="1371600" cy="47605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6176" y="1110452"/>
            <a:ext cx="1252024" cy="512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8281" y="868350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7119" y="1142670"/>
            <a:ext cx="1371600" cy="482605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7869" y="1110452"/>
            <a:ext cx="1267850" cy="512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32188" y="849167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0100" y="1110452"/>
            <a:ext cx="1267836" cy="47560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2407" y="1097153"/>
            <a:ext cx="1112162" cy="51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88544" y="840518"/>
            <a:ext cx="0" cy="274320"/>
          </a:xfrm>
          <a:prstGeom prst="line">
            <a:avLst/>
          </a:prstGeom>
          <a:noFill/>
          <a:ln w="25400">
            <a:solidFill>
              <a:srgbClr val="2E55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28549" y="1123487"/>
            <a:ext cx="1371600" cy="482605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6882" y="1106922"/>
            <a:ext cx="1371600" cy="48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0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BB581AB-B1BD-4BBE-5709-CDAC4150D960}"/>
              </a:ext>
            </a:extLst>
          </p:cNvPr>
          <p:cNvCxnSpPr>
            <a:cxnSpLocks/>
          </p:cNvCxnSpPr>
          <p:nvPr/>
        </p:nvCxnSpPr>
        <p:spPr>
          <a:xfrm flipH="1">
            <a:off x="1292836" y="1622520"/>
            <a:ext cx="1" cy="68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DF9BF7F-9E9B-9F93-9236-C0D8CDE899D4}"/>
              </a:ext>
            </a:extLst>
          </p:cNvPr>
          <p:cNvCxnSpPr>
            <a:cxnSpLocks/>
          </p:cNvCxnSpPr>
          <p:nvPr/>
        </p:nvCxnSpPr>
        <p:spPr>
          <a:xfrm>
            <a:off x="200225" y="2309574"/>
            <a:ext cx="1092612" cy="12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7"/>
          <p:cNvSpPr/>
          <p:nvPr/>
        </p:nvSpPr>
        <p:spPr>
          <a:xfrm>
            <a:off x="565614" y="27220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1.1 Requirements Review</a:t>
            </a:r>
            <a:endParaRPr lang="en-US" sz="1400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705C7D3-C8EC-F079-4D5F-550A2D5B98BC}"/>
              </a:ext>
            </a:extLst>
          </p:cNvPr>
          <p:cNvCxnSpPr/>
          <p:nvPr/>
        </p:nvCxnSpPr>
        <p:spPr>
          <a:xfrm>
            <a:off x="200225" y="2309574"/>
            <a:ext cx="0" cy="222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01BFF89-CB08-EDAE-E4C8-3A45A5EC99F2}"/>
              </a:ext>
            </a:extLst>
          </p:cNvPr>
          <p:cNvCxnSpPr>
            <a:cxnSpLocks/>
          </p:cNvCxnSpPr>
          <p:nvPr/>
        </p:nvCxnSpPr>
        <p:spPr>
          <a:xfrm flipH="1">
            <a:off x="200225" y="2785162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13">
            <a:extLst>
              <a:ext uri="{FF2B5EF4-FFF2-40B4-BE49-F238E27FC236}">
                <a16:creationId xmlns:a16="http://schemas.microsoft.com/office/drawing/2014/main" id="{572F4B77-B7F6-0223-CA78-9E5F35CE30A3}"/>
              </a:ext>
            </a:extLst>
          </p:cNvPr>
          <p:cNvSpPr/>
          <p:nvPr/>
        </p:nvSpPr>
        <p:spPr>
          <a:xfrm>
            <a:off x="548280" y="358641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1.2 Dataset Exploration</a:t>
            </a:r>
            <a:endParaRPr lang="en-US" sz="14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C9DF00A-676B-ECF6-99B0-FE97F2B6ED0E}"/>
              </a:ext>
            </a:extLst>
          </p:cNvPr>
          <p:cNvSpPr/>
          <p:nvPr/>
        </p:nvSpPr>
        <p:spPr>
          <a:xfrm>
            <a:off x="430170" y="2580269"/>
            <a:ext cx="2015257" cy="444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ACFD94C-DC34-B4E7-D39C-80FDEC33442E}"/>
              </a:ext>
            </a:extLst>
          </p:cNvPr>
          <p:cNvSpPr/>
          <p:nvPr/>
        </p:nvSpPr>
        <p:spPr>
          <a:xfrm>
            <a:off x="370134" y="3411957"/>
            <a:ext cx="2052917" cy="42094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92D9CB91-AFFB-43BD-E9C9-663EFEB591B7}"/>
              </a:ext>
            </a:extLst>
          </p:cNvPr>
          <p:cNvSpPr/>
          <p:nvPr/>
        </p:nvSpPr>
        <p:spPr>
          <a:xfrm>
            <a:off x="612192" y="4383797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1.3 Project Charter</a:t>
            </a:r>
            <a:endParaRPr lang="en-US" sz="14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ABDC83-B32C-EA10-D210-64D6446659FB}"/>
              </a:ext>
            </a:extLst>
          </p:cNvPr>
          <p:cNvSpPr/>
          <p:nvPr/>
        </p:nvSpPr>
        <p:spPr>
          <a:xfrm>
            <a:off x="408994" y="4316705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B2B291-CB3C-46DA-E85D-68D65B6DD48E}"/>
              </a:ext>
            </a:extLst>
          </p:cNvPr>
          <p:cNvCxnSpPr>
            <a:cxnSpLocks/>
          </p:cNvCxnSpPr>
          <p:nvPr/>
        </p:nvCxnSpPr>
        <p:spPr>
          <a:xfrm flipH="1">
            <a:off x="191851" y="3678171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A1774B1-8779-F240-6D30-F5E4FA938DD3}"/>
              </a:ext>
            </a:extLst>
          </p:cNvPr>
          <p:cNvCxnSpPr>
            <a:cxnSpLocks/>
          </p:cNvCxnSpPr>
          <p:nvPr/>
        </p:nvCxnSpPr>
        <p:spPr>
          <a:xfrm flipH="1">
            <a:off x="200225" y="4521006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9A41570-457E-C310-5173-977C7930C15C}"/>
              </a:ext>
            </a:extLst>
          </p:cNvPr>
          <p:cNvCxnSpPr>
            <a:cxnSpLocks/>
          </p:cNvCxnSpPr>
          <p:nvPr/>
        </p:nvCxnSpPr>
        <p:spPr>
          <a:xfrm flipH="1">
            <a:off x="3972231" y="1614019"/>
            <a:ext cx="1" cy="68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AEED078-59A5-658D-16F1-3DD3EFE0526A}"/>
              </a:ext>
            </a:extLst>
          </p:cNvPr>
          <p:cNvCxnSpPr>
            <a:cxnSpLocks/>
          </p:cNvCxnSpPr>
          <p:nvPr/>
        </p:nvCxnSpPr>
        <p:spPr>
          <a:xfrm>
            <a:off x="2552904" y="2301073"/>
            <a:ext cx="1419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30A33A3-63E3-DE46-6595-1EB5175FAAC3}"/>
              </a:ext>
            </a:extLst>
          </p:cNvPr>
          <p:cNvCxnSpPr/>
          <p:nvPr/>
        </p:nvCxnSpPr>
        <p:spPr>
          <a:xfrm>
            <a:off x="2552904" y="2301073"/>
            <a:ext cx="0" cy="222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5F2EB01-A270-CAE4-22BA-1B20516A5C00}"/>
              </a:ext>
            </a:extLst>
          </p:cNvPr>
          <p:cNvCxnSpPr>
            <a:cxnSpLocks/>
          </p:cNvCxnSpPr>
          <p:nvPr/>
        </p:nvCxnSpPr>
        <p:spPr>
          <a:xfrm flipH="1">
            <a:off x="2552904" y="2776661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67ADA12-AAFD-3C29-F5E0-CEB77ACE0F0F}"/>
              </a:ext>
            </a:extLst>
          </p:cNvPr>
          <p:cNvSpPr/>
          <p:nvPr/>
        </p:nvSpPr>
        <p:spPr>
          <a:xfrm>
            <a:off x="2903734" y="2594243"/>
            <a:ext cx="2015257" cy="444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D26FD25-CDCE-E2BC-96C7-7D6F9DFCD65C}"/>
              </a:ext>
            </a:extLst>
          </p:cNvPr>
          <p:cNvSpPr/>
          <p:nvPr/>
        </p:nvSpPr>
        <p:spPr>
          <a:xfrm>
            <a:off x="2866077" y="3467553"/>
            <a:ext cx="2052916" cy="42094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68D3A57-CD33-4B1A-543D-70C83B02FBC5}"/>
              </a:ext>
            </a:extLst>
          </p:cNvPr>
          <p:cNvSpPr/>
          <p:nvPr/>
        </p:nvSpPr>
        <p:spPr>
          <a:xfrm>
            <a:off x="2885685" y="4327771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2E0441D-49A6-5894-3901-05575AD65639}"/>
              </a:ext>
            </a:extLst>
          </p:cNvPr>
          <p:cNvCxnSpPr>
            <a:cxnSpLocks/>
          </p:cNvCxnSpPr>
          <p:nvPr/>
        </p:nvCxnSpPr>
        <p:spPr>
          <a:xfrm flipH="1">
            <a:off x="2578587" y="3662487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2198409-2AF7-905D-CFE2-22D55208194E}"/>
              </a:ext>
            </a:extLst>
          </p:cNvPr>
          <p:cNvCxnSpPr>
            <a:cxnSpLocks/>
          </p:cNvCxnSpPr>
          <p:nvPr/>
        </p:nvCxnSpPr>
        <p:spPr>
          <a:xfrm flipH="1">
            <a:off x="2552904" y="4512505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C153B1A-EC8B-4BE1-CE0C-EC3BB7726A5C}"/>
              </a:ext>
            </a:extLst>
          </p:cNvPr>
          <p:cNvCxnSpPr>
            <a:cxnSpLocks/>
          </p:cNvCxnSpPr>
          <p:nvPr/>
        </p:nvCxnSpPr>
        <p:spPr>
          <a:xfrm flipH="1">
            <a:off x="6432894" y="1649430"/>
            <a:ext cx="1" cy="68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565A807-C277-50A2-CC2E-13E7671856A0}"/>
              </a:ext>
            </a:extLst>
          </p:cNvPr>
          <p:cNvCxnSpPr>
            <a:cxnSpLocks/>
          </p:cNvCxnSpPr>
          <p:nvPr/>
        </p:nvCxnSpPr>
        <p:spPr>
          <a:xfrm>
            <a:off x="5013567" y="2336484"/>
            <a:ext cx="1419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2DAF4F4-D772-E436-D7EC-8675E4605CA0}"/>
              </a:ext>
            </a:extLst>
          </p:cNvPr>
          <p:cNvCxnSpPr/>
          <p:nvPr/>
        </p:nvCxnSpPr>
        <p:spPr>
          <a:xfrm>
            <a:off x="5013567" y="2336484"/>
            <a:ext cx="0" cy="222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BB609B4-9E97-D435-0179-9F39250D9DB0}"/>
              </a:ext>
            </a:extLst>
          </p:cNvPr>
          <p:cNvCxnSpPr>
            <a:cxnSpLocks/>
          </p:cNvCxnSpPr>
          <p:nvPr/>
        </p:nvCxnSpPr>
        <p:spPr>
          <a:xfrm flipH="1">
            <a:off x="5013567" y="2812072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77D22AC-1D0A-2B88-10B2-FD7191B0D703}"/>
              </a:ext>
            </a:extLst>
          </p:cNvPr>
          <p:cNvSpPr/>
          <p:nvPr/>
        </p:nvSpPr>
        <p:spPr>
          <a:xfrm>
            <a:off x="5364397" y="2629654"/>
            <a:ext cx="2015257" cy="444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6F39C46-3CD0-6ADB-6F5A-4B00972DA257}"/>
              </a:ext>
            </a:extLst>
          </p:cNvPr>
          <p:cNvSpPr/>
          <p:nvPr/>
        </p:nvSpPr>
        <p:spPr>
          <a:xfrm>
            <a:off x="5326740" y="3502964"/>
            <a:ext cx="2052916" cy="42094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11EE9B7-C846-7CF9-FA71-DB01C69DD5F8}"/>
              </a:ext>
            </a:extLst>
          </p:cNvPr>
          <p:cNvSpPr/>
          <p:nvPr/>
        </p:nvSpPr>
        <p:spPr>
          <a:xfrm>
            <a:off x="5346348" y="4363182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DC216CF5-3F7C-75C4-7E8F-6EA575674268}"/>
              </a:ext>
            </a:extLst>
          </p:cNvPr>
          <p:cNvCxnSpPr>
            <a:cxnSpLocks/>
          </p:cNvCxnSpPr>
          <p:nvPr/>
        </p:nvCxnSpPr>
        <p:spPr>
          <a:xfrm flipH="1">
            <a:off x="5005193" y="3705081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007B063-0BAE-91E2-FC16-FBCDF8CDF1B8}"/>
              </a:ext>
            </a:extLst>
          </p:cNvPr>
          <p:cNvCxnSpPr>
            <a:cxnSpLocks/>
          </p:cNvCxnSpPr>
          <p:nvPr/>
        </p:nvCxnSpPr>
        <p:spPr>
          <a:xfrm flipH="1">
            <a:off x="5013567" y="4547916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05DCE98-1C16-E550-6646-5251D8FCD077}"/>
              </a:ext>
            </a:extLst>
          </p:cNvPr>
          <p:cNvCxnSpPr>
            <a:cxnSpLocks/>
          </p:cNvCxnSpPr>
          <p:nvPr/>
        </p:nvCxnSpPr>
        <p:spPr>
          <a:xfrm flipH="1">
            <a:off x="8932187" y="1635507"/>
            <a:ext cx="1" cy="68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488E547-150A-E75D-CA9A-9F61DDA09D00}"/>
              </a:ext>
            </a:extLst>
          </p:cNvPr>
          <p:cNvCxnSpPr>
            <a:cxnSpLocks/>
          </p:cNvCxnSpPr>
          <p:nvPr/>
        </p:nvCxnSpPr>
        <p:spPr>
          <a:xfrm>
            <a:off x="7504487" y="2336484"/>
            <a:ext cx="1419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6FEC274-F6F2-0516-BD83-13EFF3769AC5}"/>
              </a:ext>
            </a:extLst>
          </p:cNvPr>
          <p:cNvCxnSpPr/>
          <p:nvPr/>
        </p:nvCxnSpPr>
        <p:spPr>
          <a:xfrm>
            <a:off x="7512861" y="2354676"/>
            <a:ext cx="0" cy="222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FCED8FF-E565-0610-F4CF-6B4C7C319C5A}"/>
              </a:ext>
            </a:extLst>
          </p:cNvPr>
          <p:cNvCxnSpPr>
            <a:cxnSpLocks/>
          </p:cNvCxnSpPr>
          <p:nvPr/>
        </p:nvCxnSpPr>
        <p:spPr>
          <a:xfrm flipH="1">
            <a:off x="7512861" y="2812072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CDA42A9-1955-DD3A-AFD8-5FC33169EDA7}"/>
              </a:ext>
            </a:extLst>
          </p:cNvPr>
          <p:cNvSpPr/>
          <p:nvPr/>
        </p:nvSpPr>
        <p:spPr>
          <a:xfrm>
            <a:off x="7863691" y="2629654"/>
            <a:ext cx="2015257" cy="444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834039D-7F49-7FE1-46CF-4DE4786AFACA}"/>
              </a:ext>
            </a:extLst>
          </p:cNvPr>
          <p:cNvSpPr/>
          <p:nvPr/>
        </p:nvSpPr>
        <p:spPr>
          <a:xfrm>
            <a:off x="7826034" y="3502964"/>
            <a:ext cx="2052916" cy="42094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EBFDA51-EAFD-0F44-C52A-BA0A8CBCA6BA}"/>
              </a:ext>
            </a:extLst>
          </p:cNvPr>
          <p:cNvSpPr/>
          <p:nvPr/>
        </p:nvSpPr>
        <p:spPr>
          <a:xfrm>
            <a:off x="7845642" y="4363182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E446DFC-DF09-439F-3E21-E23ED36529DE}"/>
              </a:ext>
            </a:extLst>
          </p:cNvPr>
          <p:cNvCxnSpPr>
            <a:cxnSpLocks/>
          </p:cNvCxnSpPr>
          <p:nvPr/>
        </p:nvCxnSpPr>
        <p:spPr>
          <a:xfrm flipH="1">
            <a:off x="7504487" y="3705081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3864B3D-3B25-F63D-CC76-DBCCD0911F6B}"/>
              </a:ext>
            </a:extLst>
          </p:cNvPr>
          <p:cNvCxnSpPr>
            <a:cxnSpLocks/>
          </p:cNvCxnSpPr>
          <p:nvPr/>
        </p:nvCxnSpPr>
        <p:spPr>
          <a:xfrm flipH="1">
            <a:off x="7512861" y="4547916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FC44766-863A-168F-8036-C31AE84AF57C}"/>
              </a:ext>
            </a:extLst>
          </p:cNvPr>
          <p:cNvCxnSpPr>
            <a:cxnSpLocks/>
          </p:cNvCxnSpPr>
          <p:nvPr/>
        </p:nvCxnSpPr>
        <p:spPr>
          <a:xfrm flipH="1">
            <a:off x="11388545" y="1649430"/>
            <a:ext cx="1" cy="68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4CEBA5D-1E63-E390-0515-5D65677162B7}"/>
              </a:ext>
            </a:extLst>
          </p:cNvPr>
          <p:cNvCxnSpPr>
            <a:cxnSpLocks/>
          </p:cNvCxnSpPr>
          <p:nvPr/>
        </p:nvCxnSpPr>
        <p:spPr>
          <a:xfrm>
            <a:off x="9969218" y="2336484"/>
            <a:ext cx="1419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ED02EF0-67C9-B170-8738-6B3A2CB2663E}"/>
              </a:ext>
            </a:extLst>
          </p:cNvPr>
          <p:cNvCxnSpPr>
            <a:cxnSpLocks/>
          </p:cNvCxnSpPr>
          <p:nvPr/>
        </p:nvCxnSpPr>
        <p:spPr>
          <a:xfrm>
            <a:off x="9969218" y="2336484"/>
            <a:ext cx="0" cy="1376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A35D2ABF-1B5D-D6C1-1221-109D720C1011}"/>
              </a:ext>
            </a:extLst>
          </p:cNvPr>
          <p:cNvCxnSpPr>
            <a:cxnSpLocks/>
          </p:cNvCxnSpPr>
          <p:nvPr/>
        </p:nvCxnSpPr>
        <p:spPr>
          <a:xfrm flipH="1">
            <a:off x="9969218" y="2812072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D76EF884-6B1C-9B5E-78AF-DC5A58DD33CD}"/>
              </a:ext>
            </a:extLst>
          </p:cNvPr>
          <p:cNvSpPr/>
          <p:nvPr/>
        </p:nvSpPr>
        <p:spPr>
          <a:xfrm>
            <a:off x="10290765" y="2616075"/>
            <a:ext cx="1514093" cy="444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D5281B1-6C0D-E5FA-F7C9-4DCE503B94D9}"/>
              </a:ext>
            </a:extLst>
          </p:cNvPr>
          <p:cNvSpPr/>
          <p:nvPr/>
        </p:nvSpPr>
        <p:spPr>
          <a:xfrm>
            <a:off x="10303524" y="3502964"/>
            <a:ext cx="1696625" cy="42094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ABCEB60-0D7D-2405-45E7-5D7FE54986CD}"/>
              </a:ext>
            </a:extLst>
          </p:cNvPr>
          <p:cNvCxnSpPr>
            <a:cxnSpLocks/>
          </p:cNvCxnSpPr>
          <p:nvPr/>
        </p:nvCxnSpPr>
        <p:spPr>
          <a:xfrm flipH="1">
            <a:off x="9960844" y="3705081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 27"/>
          <p:cNvSpPr/>
          <p:nvPr/>
        </p:nvSpPr>
        <p:spPr>
          <a:xfrm>
            <a:off x="2957847" y="270693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2.1 WBS Creation</a:t>
            </a:r>
            <a:endParaRPr lang="en-US" sz="1400" dirty="0"/>
          </a:p>
        </p:txBody>
      </p:sp>
      <p:sp>
        <p:nvSpPr>
          <p:cNvPr id="201" name="Text 33"/>
          <p:cNvSpPr/>
          <p:nvPr/>
        </p:nvSpPr>
        <p:spPr>
          <a:xfrm>
            <a:off x="2973281" y="356505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2.2 Project Schedule</a:t>
            </a:r>
            <a:endParaRPr lang="en-US" sz="1400" dirty="0"/>
          </a:p>
        </p:txBody>
      </p:sp>
      <p:sp>
        <p:nvSpPr>
          <p:cNvPr id="202" name="Text 39"/>
          <p:cNvSpPr/>
          <p:nvPr/>
        </p:nvSpPr>
        <p:spPr>
          <a:xfrm>
            <a:off x="2950805" y="4385247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2.3 RAID Log</a:t>
            </a:r>
            <a:endParaRPr lang="en-US" sz="14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9A21977-3A67-F937-91C2-7FB52951F1BC}"/>
              </a:ext>
            </a:extLst>
          </p:cNvPr>
          <p:cNvSpPr/>
          <p:nvPr/>
        </p:nvSpPr>
        <p:spPr>
          <a:xfrm>
            <a:off x="2885683" y="5178163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3B64DCE-59DE-2EB9-FE83-E41B82758D7D}"/>
              </a:ext>
            </a:extLst>
          </p:cNvPr>
          <p:cNvCxnSpPr>
            <a:cxnSpLocks/>
          </p:cNvCxnSpPr>
          <p:nvPr/>
        </p:nvCxnSpPr>
        <p:spPr>
          <a:xfrm flipH="1">
            <a:off x="2578585" y="4512879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53DBE83-3DD8-58B9-4DD0-EC28BC8768F3}"/>
              </a:ext>
            </a:extLst>
          </p:cNvPr>
          <p:cNvCxnSpPr>
            <a:cxnSpLocks/>
          </p:cNvCxnSpPr>
          <p:nvPr/>
        </p:nvCxnSpPr>
        <p:spPr>
          <a:xfrm flipH="1">
            <a:off x="2552902" y="5362897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87BE3CF-F14A-699A-8724-0A525BDBDA3B}"/>
              </a:ext>
            </a:extLst>
          </p:cNvPr>
          <p:cNvCxnSpPr>
            <a:cxnSpLocks/>
          </p:cNvCxnSpPr>
          <p:nvPr/>
        </p:nvCxnSpPr>
        <p:spPr>
          <a:xfrm>
            <a:off x="2552902" y="4512505"/>
            <a:ext cx="2" cy="850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 45"/>
          <p:cNvSpPr/>
          <p:nvPr/>
        </p:nvSpPr>
        <p:spPr>
          <a:xfrm>
            <a:off x="2939369" y="5246989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2.4 SRS Document</a:t>
            </a:r>
            <a:endParaRPr lang="en-US" sz="1400" dirty="0"/>
          </a:p>
        </p:txBody>
      </p:sp>
      <p:sp>
        <p:nvSpPr>
          <p:cNvPr id="213" name="Text 53"/>
          <p:cNvSpPr/>
          <p:nvPr/>
        </p:nvSpPr>
        <p:spPr>
          <a:xfrm>
            <a:off x="5471782" y="27436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3.1 Data Cleaning</a:t>
            </a:r>
            <a:endParaRPr lang="en-US" sz="1400" dirty="0"/>
          </a:p>
        </p:txBody>
      </p:sp>
      <p:sp>
        <p:nvSpPr>
          <p:cNvPr id="214" name="Text 59"/>
          <p:cNvSpPr/>
          <p:nvPr/>
        </p:nvSpPr>
        <p:spPr>
          <a:xfrm>
            <a:off x="5461692" y="3586058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3.2 Basic Q1–Q9</a:t>
            </a:r>
            <a:endParaRPr lang="en-US" sz="1400" dirty="0"/>
          </a:p>
        </p:txBody>
      </p:sp>
      <p:sp>
        <p:nvSpPr>
          <p:cNvPr id="215" name="Text 65"/>
          <p:cNvSpPr/>
          <p:nvPr/>
        </p:nvSpPr>
        <p:spPr>
          <a:xfrm>
            <a:off x="5432228" y="44284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3.3 Moderate Q10–Q17</a:t>
            </a:r>
            <a:endParaRPr lang="en-US" sz="1400" dirty="0"/>
          </a:p>
        </p:txBody>
      </p:sp>
      <p:sp>
        <p:nvSpPr>
          <p:cNvPr id="216" name="Text 71"/>
          <p:cNvSpPr/>
          <p:nvPr/>
        </p:nvSpPr>
        <p:spPr>
          <a:xfrm>
            <a:off x="5432228" y="5244431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3.4 Tableau Dashboard</a:t>
            </a:r>
            <a:endParaRPr lang="en-US" sz="14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006C735-DA3D-6F0B-4F08-CCCA7C502A6D}"/>
              </a:ext>
            </a:extLst>
          </p:cNvPr>
          <p:cNvSpPr/>
          <p:nvPr/>
        </p:nvSpPr>
        <p:spPr>
          <a:xfrm>
            <a:off x="5346643" y="5193974"/>
            <a:ext cx="2033308" cy="353639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2FFAF80-C883-635D-9247-F00D184F4183}"/>
              </a:ext>
            </a:extLst>
          </p:cNvPr>
          <p:cNvCxnSpPr>
            <a:cxnSpLocks/>
          </p:cNvCxnSpPr>
          <p:nvPr/>
        </p:nvCxnSpPr>
        <p:spPr>
          <a:xfrm flipH="1">
            <a:off x="5013862" y="5378708"/>
            <a:ext cx="321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DEDF93C-17E0-C3AE-8092-584BCEB5C103}"/>
              </a:ext>
            </a:extLst>
          </p:cNvPr>
          <p:cNvCxnSpPr>
            <a:cxnSpLocks/>
          </p:cNvCxnSpPr>
          <p:nvPr/>
        </p:nvCxnSpPr>
        <p:spPr>
          <a:xfrm>
            <a:off x="5013862" y="4528316"/>
            <a:ext cx="2" cy="850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 79"/>
          <p:cNvSpPr/>
          <p:nvPr/>
        </p:nvSpPr>
        <p:spPr>
          <a:xfrm>
            <a:off x="7969358" y="2764995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4.1 Submission Doc</a:t>
            </a:r>
            <a:endParaRPr lang="en-US" sz="1400" dirty="0"/>
          </a:p>
        </p:txBody>
      </p:sp>
      <p:sp>
        <p:nvSpPr>
          <p:cNvPr id="224" name="Text 85"/>
          <p:cNvSpPr/>
          <p:nvPr/>
        </p:nvSpPr>
        <p:spPr>
          <a:xfrm>
            <a:off x="7969358" y="3622427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4.2 Project Report</a:t>
            </a:r>
            <a:endParaRPr lang="en-US" sz="1400" dirty="0"/>
          </a:p>
        </p:txBody>
      </p:sp>
      <p:sp>
        <p:nvSpPr>
          <p:cNvPr id="225" name="Text 91"/>
          <p:cNvSpPr/>
          <p:nvPr/>
        </p:nvSpPr>
        <p:spPr>
          <a:xfrm>
            <a:off x="7953039" y="439952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4.3 Lessons Learnt</a:t>
            </a:r>
            <a:endParaRPr lang="en-US" sz="1400" dirty="0"/>
          </a:p>
        </p:txBody>
      </p:sp>
      <p:sp>
        <p:nvSpPr>
          <p:cNvPr id="226" name="Text 99"/>
          <p:cNvSpPr/>
          <p:nvPr/>
        </p:nvSpPr>
        <p:spPr>
          <a:xfrm>
            <a:off x="10336025" y="273797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5.1 Final Review</a:t>
            </a:r>
            <a:endParaRPr lang="en-US" sz="1400" dirty="0"/>
          </a:p>
        </p:txBody>
      </p:sp>
      <p:sp>
        <p:nvSpPr>
          <p:cNvPr id="227" name="Text 105"/>
          <p:cNvSpPr/>
          <p:nvPr/>
        </p:nvSpPr>
        <p:spPr>
          <a:xfrm>
            <a:off x="10352710" y="360370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5.2 File Submission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5120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597"/>
          </a:solidFill>
          <a:ln/>
        </p:spPr>
      </p:sp>
      <p:sp>
        <p:nvSpPr>
          <p:cNvPr id="41" name="Shape 1"/>
          <p:cNvSpPr/>
          <p:nvPr/>
        </p:nvSpPr>
        <p:spPr>
          <a:xfrm>
            <a:off x="0" y="5469515"/>
            <a:ext cx="12192000" cy="133731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2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Summary</a:t>
            </a:r>
            <a:endParaRPr lang="en-US" sz="3000" dirty="0"/>
          </a:p>
        </p:txBody>
      </p:sp>
      <p:sp>
        <p:nvSpPr>
          <p:cNvPr id="43" name="Shape 3"/>
          <p:cNvSpPr/>
          <p:nvPr/>
        </p:nvSpPr>
        <p:spPr>
          <a:xfrm>
            <a:off x="548640" y="1434465"/>
            <a:ext cx="25603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4" name="Text 4"/>
          <p:cNvSpPr/>
          <p:nvPr/>
        </p:nvSpPr>
        <p:spPr>
          <a:xfrm>
            <a:off x="548640" y="1404851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– Initiation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3190009" y="146109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review, dataset familiarization, project charter</a:t>
            </a:r>
            <a:endParaRPr lang="en-US" sz="1200" dirty="0"/>
          </a:p>
        </p:txBody>
      </p:sp>
      <p:sp>
        <p:nvSpPr>
          <p:cNvPr id="46" name="Shape 6"/>
          <p:cNvSpPr/>
          <p:nvPr/>
        </p:nvSpPr>
        <p:spPr>
          <a:xfrm>
            <a:off x="548640" y="2157412"/>
            <a:ext cx="25603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7" name="Text 7"/>
          <p:cNvSpPr/>
          <p:nvPr/>
        </p:nvSpPr>
        <p:spPr>
          <a:xfrm>
            <a:off x="548640" y="214650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– Planning</a:t>
            </a:r>
            <a:endParaRPr lang="en-US" sz="1200" dirty="0"/>
          </a:p>
        </p:txBody>
      </p:sp>
      <p:sp>
        <p:nvSpPr>
          <p:cNvPr id="48" name="Text 8"/>
          <p:cNvSpPr/>
          <p:nvPr/>
        </p:nvSpPr>
        <p:spPr>
          <a:xfrm>
            <a:off x="3200400" y="220027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WBS, project schedule, RAID log, SRS, requirement questionnaire</a:t>
            </a:r>
            <a:endParaRPr lang="en-US" sz="1200" dirty="0"/>
          </a:p>
        </p:txBody>
      </p:sp>
      <p:sp>
        <p:nvSpPr>
          <p:cNvPr id="49" name="Shape 9"/>
          <p:cNvSpPr/>
          <p:nvPr/>
        </p:nvSpPr>
        <p:spPr>
          <a:xfrm>
            <a:off x="548640" y="2901402"/>
            <a:ext cx="25603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0" name="Text 10"/>
          <p:cNvSpPr/>
          <p:nvPr/>
        </p:nvSpPr>
        <p:spPr>
          <a:xfrm>
            <a:off x="548640" y="28847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– Analysis</a:t>
            </a:r>
            <a:endParaRPr lang="en-US" sz="1200" dirty="0"/>
          </a:p>
        </p:txBody>
      </p:sp>
      <p:sp>
        <p:nvSpPr>
          <p:cNvPr id="51" name="Text 11"/>
          <p:cNvSpPr/>
          <p:nvPr/>
        </p:nvSpPr>
        <p:spPr>
          <a:xfrm>
            <a:off x="3200400" y="293945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9 basic questions, 8 moderate questions, Tableau dashboard</a:t>
            </a:r>
            <a:endParaRPr lang="en-US" sz="1200" dirty="0"/>
          </a:p>
        </p:txBody>
      </p:sp>
      <p:sp>
        <p:nvSpPr>
          <p:cNvPr id="52" name="Shape 12"/>
          <p:cNvSpPr/>
          <p:nvPr/>
        </p:nvSpPr>
        <p:spPr>
          <a:xfrm>
            <a:off x="548640" y="3674745"/>
            <a:ext cx="25603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13"/>
          <p:cNvSpPr/>
          <p:nvPr/>
        </p:nvSpPr>
        <p:spPr>
          <a:xfrm>
            <a:off x="457200" y="37079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– Documentation</a:t>
            </a:r>
            <a:endParaRPr lang="en-US" sz="1200" dirty="0"/>
          </a:p>
        </p:txBody>
      </p:sp>
      <p:sp>
        <p:nvSpPr>
          <p:cNvPr id="54" name="Text 14"/>
          <p:cNvSpPr/>
          <p:nvPr/>
        </p:nvSpPr>
        <p:spPr>
          <a:xfrm>
            <a:off x="3200400" y="37547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submission doc, project report, lessons learnt log</a:t>
            </a:r>
            <a:endParaRPr lang="en-US" sz="1200" dirty="0"/>
          </a:p>
        </p:txBody>
      </p:sp>
      <p:sp>
        <p:nvSpPr>
          <p:cNvPr id="55" name="Shape 15"/>
          <p:cNvSpPr/>
          <p:nvPr/>
        </p:nvSpPr>
        <p:spPr>
          <a:xfrm>
            <a:off x="548640" y="4423410"/>
            <a:ext cx="256032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16"/>
          <p:cNvSpPr/>
          <p:nvPr/>
        </p:nvSpPr>
        <p:spPr>
          <a:xfrm>
            <a:off x="457200" y="442341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– Closure</a:t>
            </a:r>
            <a:endParaRPr lang="en-US" sz="1200" dirty="0"/>
          </a:p>
        </p:txBody>
      </p:sp>
      <p:sp>
        <p:nvSpPr>
          <p:cNvPr id="57" name="Text 17"/>
          <p:cNvSpPr/>
          <p:nvPr/>
        </p:nvSpPr>
        <p:spPr>
          <a:xfrm>
            <a:off x="3200400" y="447718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 and GPI portal submission</a:t>
            </a:r>
            <a:endParaRPr lang="en-US" sz="1200" dirty="0"/>
          </a:p>
        </p:txBody>
      </p:sp>
      <p:sp>
        <p:nvSpPr>
          <p:cNvPr id="58" name="Text 18"/>
          <p:cNvSpPr/>
          <p:nvPr/>
        </p:nvSpPr>
        <p:spPr>
          <a:xfrm>
            <a:off x="1828800" y="600646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Hours: 240  |  Methodology: Waterfall  |  Tool: Google Colab + Tableau Public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418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6873</TotalTime>
  <Words>209</Words>
  <Application>Microsoft Office PowerPoint</Application>
  <PresentationFormat>Widescreen</PresentationFormat>
  <Paragraphs>49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inherit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Omkar More</cp:lastModifiedBy>
  <cp:revision>247</cp:revision>
  <dcterms:created xsi:type="dcterms:W3CDTF">2023-07-15T03:43:48Z</dcterms:created>
  <dcterms:modified xsi:type="dcterms:W3CDTF">2026-06-08T17:51:29Z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